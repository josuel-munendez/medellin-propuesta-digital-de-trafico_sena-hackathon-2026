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Medellín Movilidata 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C107"/>
                </a:solidFill>
                <a:latin typeface="Calibri"/>
              </a:defRPr>
            </a:pPr>
            <a:r>
              <a:t>Plataforma de Movilidad Segura Guiada por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  <a:latin typeface="Calibri"/>
              </a:defRPr>
            </a:pPr>
            <a:r>
              <a:t>HackData CTGI SENA 2026 — Reto de Movilidad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BBBBB"/>
                </a:solidFill>
                <a:latin typeface="Calibri"/>
              </a:defRPr>
            </a:pPr>
            <a:r>
              <a:t>Medellín, Colombia — June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5943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Calibri"/>
              </a:defRPr>
            </a:pPr>
            <a:r>
              <a:t>Equipo Medellín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23E7A"/>
                </a:solidFill>
                <a:latin typeface="Calibri"/>
              </a:defRPr>
            </a:pPr>
            <a:r>
              <a:t>¿Cuál es el problema?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Calibri"/>
              </a:defRPr>
            </a:pPr>
            <a:r>
              <a:t>En Medellín, los accidentes de tránsito son una de las principales causas de mortalidad evitable.</a:t>
            </a:r>
            <a:br/>
            <a:br/>
            <a:r>
              <a:t>Los ciudadanos carecen de herramientas digitales que integren:</a:t>
            </a:r>
            <a:br/>
            <a:br/>
            <a:r>
              <a:t>  •  Datos históricos de accidentes</a:t>
            </a:r>
            <a:br/>
            <a:r>
              <a:t>  •  Visualización en tiempo real del tráfico</a:t>
            </a:r>
            <a:br/>
            <a:r>
              <a:t>  •  Predicción de zonas de alto riesgo</a:t>
            </a:r>
            <a:br/>
            <a:r>
              <a:t>  •  Alertas climáticas y de congestión</a:t>
            </a:r>
            <a:br/>
            <a:br/>
            <a:r>
              <a:t>Actualmente, la información está fragmentada entre múltiples fuentes (SIATA, TomTom, Secretaría de Movilidad) sin una interfaz unificada que permita tomar decisiones informadas.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Nuestra 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alibri"/>
              </a:defRPr>
            </a:pPr>
            <a:r>
              <a:t>Medellín Movilidata OS es una plataforma de código abierto que integra:</a:t>
            </a:r>
            <a:br/>
            <a:br/>
            <a:r>
              <a:t>  🗺️  Mapa interactivo con heatmap de accidentes y zonas de riesgo</a:t>
            </a:r>
            <a:br/>
            <a:r>
              <a:t>  🌧️  Datos climáticos en tiempo real (SIATA + OpenWeather)</a:t>
            </a:r>
            <a:br/>
            <a:r>
              <a:t>  🚦  Visualización de tráfico TomTom con incidentes y flujo vehicular</a:t>
            </a:r>
            <a:br/>
            <a:r>
              <a:t>  🤖  Predicción ML de congestión usando regresión lineal ponderada</a:t>
            </a:r>
            <a:br/>
            <a:r>
              <a:t>  📱  Aplicación web progresiva (PWA) con soporte offline</a:t>
            </a:r>
            <a:br/>
            <a:r>
              <a:t>  🔐  Panel administrativo con autenticación y CRUD</a:t>
            </a:r>
            <a:br/>
            <a:r>
              <a:t>  📊  Dashboard con gráficas interactivas (Chart.js + ECharts)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23E7A"/>
                </a:solidFill>
                <a:latin typeface="Calibri"/>
              </a:defRPr>
            </a:pPr>
            <a:r>
              <a:t>Arquitectura Técnica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200400" cy="2743200"/>
          </a:xfrm>
          <a:prstGeom prst="roundRect">
            <a:avLst/>
          </a:prstGeom>
          <a:solidFill>
            <a:srgbClr val="12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Frontend Vue 3</a:t>
            </a:r>
          </a:p>
          <a:p/>
          <a:p>
            <a:pPr algn="ctr"/>
            <a:r>
              <a:rPr sz="1400">
                <a:solidFill>
                  <a:srgbClr val="FFC107"/>
                </a:solidFill>
                <a:latin typeface="Calibri"/>
              </a:rPr>
              <a:t>Vite 8 · Bootstrap 5
Leaflet + Mapbox GL
Chart.js + ECharts
TomTom Traffic API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371600"/>
            <a:ext cx="3200400" cy="2743200"/>
          </a:xfrm>
          <a:prstGeom prst="roundRect">
            <a:avLst/>
          </a:prstGeom>
          <a:solidFill>
            <a:srgbClr val="12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Backend Django</a:t>
            </a:r>
          </a:p>
          <a:p/>
          <a:p>
            <a:pPr algn="ctr"/>
            <a:r>
              <a:rPr sz="1400">
                <a:solidFill>
                  <a:srgbClr val="FFC107"/>
                </a:solidFill>
                <a:latin typeface="Calibri"/>
              </a:rPr>
              <a:t>Django 5.1 + DRF 3.15
SQLite / MySQL
Token Auth
5 endpoints REST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0" y="1371600"/>
            <a:ext cx="3200400" cy="2743200"/>
          </a:xfrm>
          <a:prstGeom prst="roundRect">
            <a:avLst/>
          </a:prstGeom>
          <a:solidFill>
            <a:srgbClr val="12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ML Engine</a:t>
            </a:r>
          </a:p>
          <a:p/>
          <a:p>
            <a:pPr algn="ctr"/>
            <a:r>
              <a:rPr sz="1400">
                <a:solidFill>
                  <a:srgbClr val="FFC107"/>
                </a:solidFill>
                <a:latin typeface="Calibri"/>
              </a:rPr>
              <a:t>scikit-learn
Regresión Lineal
Pesos temporales
Factores día-semana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Calibri"/>
              </a:defRPr>
            </a:pPr>
            <a:r>
              <a:t>APIs Externas: TomTom Traffic · SIATA (Medellín) · OpenWeatherMap</a:t>
            </a:r>
            <a:br/>
            <a:r>
              <a:t>Cliente: Navegador Web (Chrome/Firefox) · PWA con Service Worker · Geolocalización GPS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3E7A"/>
                </a:solidFill>
                <a:latin typeface="Calibri"/>
              </a:defRPr>
            </a:pPr>
            <a:r>
              <a:t>Dashboard — Mapa y Zonas de Riesgo</a:t>
            </a:r>
          </a:p>
        </p:txBody>
      </p:sp>
      <p:pic>
        <p:nvPicPr>
          <p:cNvPr id="3" name="Picture 2" descr="full-page-init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515600" cy="5015520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3E7A"/>
                </a:solidFill>
                <a:latin typeface="Calibri"/>
              </a:defRPr>
            </a:pPr>
            <a:r>
              <a:t>Dashboard — Gráficas y Predicción ML</a:t>
            </a:r>
          </a:p>
        </p:txBody>
      </p:sp>
      <p:pic>
        <p:nvPicPr>
          <p:cNvPr id="3" name="Picture 2" descr="chart_s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488924"/>
          </a:xfrm>
          <a:prstGeom prst="rect">
            <a:avLst/>
          </a:prstGeom>
        </p:spPr>
      </p:pic>
      <p:pic>
        <p:nvPicPr>
          <p:cNvPr id="4" name="Picture 3" descr="tomtom-sta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486400" cy="34001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3E7A"/>
                </a:solidFill>
                <a:latin typeface="Calibri"/>
              </a:defRPr>
            </a:pPr>
            <a:r>
              <a:t>Tráfico en Tiempo Real — TomTom Traffic</a:t>
            </a:r>
          </a:p>
        </p:txBody>
      </p:sp>
      <p:pic>
        <p:nvPicPr>
          <p:cNvPr id="3" name="Picture 2" descr="tomtom_flow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486400" cy="3488924"/>
          </a:xfrm>
          <a:prstGeom prst="rect">
            <a:avLst/>
          </a:prstGeom>
        </p:spPr>
      </p:pic>
      <p:pic>
        <p:nvPicPr>
          <p:cNvPr id="4" name="Picture 3" descr="tomtom_fullpage_incidents4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188720"/>
            <a:ext cx="5303520" cy="3748507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3E7A"/>
                </a:solidFill>
                <a:latin typeface="Calibri"/>
              </a:defRPr>
            </a:pPr>
            <a:r>
              <a:t>Motor de Predicción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0000"/>
                </a:solidFill>
                <a:latin typeface="Calibri"/>
              </a:defRPr>
            </a:pPr>
            <a:r>
              <a:t>Algoritmo: Regresión Lineal con scikit-learn</a:t>
            </a:r>
            <a:br/>
            <a:br/>
            <a:r>
              <a:t>Características:</a:t>
            </a:r>
            <a:br/>
            <a:r>
              <a:t>  •  Pesos exponenciales: datos recientes (últimos 3 días) tienen 50% del peso total</a:t>
            </a:r>
            <a:br/>
            <a:r>
              <a:t>  •  Factor día-semana: fines de semana tienen 20% menos congestión</a:t>
            </a:r>
            <a:br/>
            <a:r>
              <a:t>  •  Detección de tendencia: pendiente de regresión lineal sobre datos históricos</a:t>
            </a:r>
            <a:br/>
            <a:r>
              <a:t>  •  Intervalos de confianza: entre 0.3 y 0.95 según R², muestras y horizonte</a:t>
            </a:r>
            <a:br/>
            <a:r>
              <a:t>  •  Niveles de riesgo: baja (&lt;4 accidentes), media (4-7), alta (&gt;=8)</a:t>
            </a:r>
            <a:br/>
            <a:br/>
            <a:r>
              <a:t>Endpoint: GET /api/congestion_prediction/?hour=N</a:t>
            </a:r>
            <a:br/>
            <a:r>
              <a:t>Respuesta: predicción para las próximas 2 horas con nivel de riesgo y confianza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3E7A"/>
                </a:solidFill>
                <a:latin typeface="Calibri"/>
              </a:defRPr>
            </a:pPr>
            <a:r>
              <a:t>Stack Tecnológico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743200" cy="4114800"/>
          </a:xfrm>
          <a:prstGeom prst="roundRect">
            <a:avLst/>
          </a:prstGeom>
          <a:solidFill>
            <a:srgbClr val="12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Frontend</a:t>
            </a:r>
          </a:p>
          <a:p/>
          <a:p>
            <a:pPr algn="ctr"/>
            <a:r>
              <a:rPr sz="1400">
                <a:solidFill>
                  <a:srgbClr val="FFC107"/>
                </a:solidFill>
                <a:latin typeface="Calibri"/>
              </a:rPr>
              <a:t>Vue 3 · Vite 8 · Bootstrap 5
Leaflet · Mapbox GL
Chart.js · ECharts
PWA (vite-plugin-pwa)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371600"/>
            <a:ext cx="2743200" cy="4114800"/>
          </a:xfrm>
          <a:prstGeom prst="roundRect">
            <a:avLst/>
          </a:prstGeom>
          <a:solidFill>
            <a:srgbClr val="12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Backend</a:t>
            </a:r>
          </a:p>
          <a:p/>
          <a:p>
            <a:pPr algn="ctr"/>
            <a:r>
              <a:rPr sz="1400">
                <a:solidFill>
                  <a:srgbClr val="FFC107"/>
                </a:solidFill>
                <a:latin typeface="Calibri"/>
              </a:rPr>
              <a:t>Django 5.1+ · DRF 3.15+
SQLite / MySQL
Token Auth · CORS
Python 3.11+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371600"/>
            <a:ext cx="2743200" cy="4114800"/>
          </a:xfrm>
          <a:prstGeom prst="roundRect">
            <a:avLst/>
          </a:prstGeom>
          <a:solidFill>
            <a:srgbClr val="12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ML &amp; Datos</a:t>
            </a:r>
          </a:p>
          <a:p/>
          <a:p>
            <a:pPr algn="ctr"/>
            <a:r>
              <a:rPr sz="1400">
                <a:solidFill>
                  <a:srgbClr val="FFC107"/>
                </a:solidFill>
                <a:latin typeface="Calibri"/>
              </a:rPr>
              <a:t>scikit-learn · NumPy
Regresión Lineal
GeoJSON · Excel parsing
SIATA + OpenWeather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1371600"/>
            <a:ext cx="2743200" cy="4114800"/>
          </a:xfrm>
          <a:prstGeom prst="roundRect">
            <a:avLst/>
          </a:prstGeom>
          <a:solidFill>
            <a:srgbClr val="123E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DevOps</a:t>
            </a:r>
          </a:p>
          <a:p/>
          <a:p>
            <a:pPr algn="ctr"/>
            <a:r>
              <a:rPr sz="1400">
                <a:solidFill>
                  <a:srgbClr val="FFC107"/>
                </a:solidFill>
                <a:latin typeface="Calibri"/>
              </a:rPr>
              <a:t>Git · GitHub
Vite · Hot Reload
PWA Service Worker
npm / pip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Roadmap del Proyecto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10058400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E7A"/>
                </a:solidFill>
                <a:latin typeface="Calibri"/>
              </a:rPr>
              <a:t>  Fase 1: MVP Core — Mapa Leaflet, heatmap, API REST, carga datos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51760"/>
            <a:ext cx="10058400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E7A"/>
                </a:solidFill>
                <a:latin typeface="Calibri"/>
              </a:rPr>
              <a:t>  Fase 2: Tracking — GPS, TomTom Traffic, rutas simuladas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657600"/>
            <a:ext cx="10058400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E7A"/>
                </a:solidFill>
                <a:latin typeface="Calibri"/>
              </a:rPr>
              <a:t>  Fase 3: ML Prediction — Regresión lineal, pesos, endpoint predicción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663440"/>
            <a:ext cx="10058400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E7A"/>
                </a:solidFill>
                <a:latin typeface="Calibri"/>
              </a:rPr>
              <a:t>  Fase 4: PWA &amp; Admin — Service worker, offline, CRUD, autenticación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5669280"/>
            <a:ext cx="10058400" cy="731520"/>
          </a:xfrm>
          <a:prstGeom prst="round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23E7A"/>
                </a:solidFill>
                <a:latin typeface="Calibri"/>
              </a:rPr>
              <a:t>  Fase 5: Documentación — Manuales, ficha técnica, matriz req, presentación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3E7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4747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C107"/>
                </a:solidFill>
                <a:latin typeface="Calibri"/>
              </a:defRPr>
            </a:pPr>
            <a:r>
              <a:t>Medellín Movilidata 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5720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Calibri"/>
              </a:defRPr>
            </a:pPr>
            <a:r>
              <a:t>Movilidad segura guiada por datos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